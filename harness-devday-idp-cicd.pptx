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DE4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114800"/>
            <a:ext cx="2743200" cy="2743200"/>
          </a:xfrm>
          <a:prstGeom prst="ellipse">
            <a:avLst/>
          </a:prstGeom>
          <a:solidFill>
            <a:srgbClr val="00ADE4">
              <a:alpha val="15000"/>
            </a:srgbClr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E"/>
                </a:solidFill>
              </a:rPr>
              <a:t>HARNESS DEV 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+ CI/CD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A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Developer Platform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IDP + CI/CD create a platform that stays alive,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autonomic, and developer-centric.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846320"/>
            <a:ext cx="5029200" cy="1188720"/>
          </a:xfrm>
          <a:prstGeom prst="rect">
            <a:avLst/>
          </a:prstGeom>
          <a:solidFill>
            <a:srgbClr val="0F1B3C"/>
          </a:solidFill>
          <a:ln w="1270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4983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Diego Pereira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0B4D0"/>
                </a:solidFill>
              </a:rPr>
              <a:t>Principal Customer Architect  •  Harness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</a:rPr>
              <a:t>CI / CD / STO / SCS / IDP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day  •  Hybrid format: talks + hands-on labs  •  Built on the guest-flow reference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703320" cy="384048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D1E"/>
                </a:solidFill>
              </a:rPr>
              <a:t>PHASE 1  Foundations &amp; Core Labs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051560"/>
            <a:ext cx="370332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53128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D1E"/>
                </a:solidFill>
              </a:rPr>
              <a:t>PHASE 2  Advanced Topics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66760" y="1051560"/>
            <a:ext cx="3703320" cy="38404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6488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D1E"/>
                </a:solidFill>
              </a:rPr>
              <a:t>PHASE 3  Workshop Materials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27048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27048"/>
            <a:ext cx="91440" cy="53035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72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09:30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73936"/>
            <a:ext cx="685800" cy="1828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73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OPENING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34440" y="1563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Vision &amp; Context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3444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Why Platform Engineering? The IDP + CI/CD story.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13969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39696"/>
            <a:ext cx="91440" cy="53035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854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09:45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86584"/>
            <a:ext cx="685800" cy="1828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865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LAB 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34440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Self-Service Onboarding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34440" y="2414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IDP workflow → project_setup_v2 → GitHub + Harness + Catalog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752344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52344"/>
            <a:ext cx="91440" cy="53035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980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10:20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999232"/>
            <a:ext cx="685800" cy="1828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992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LAB 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34440" y="27889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Code &amp; Repo Exploration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234440" y="30266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Harness Code: browse guest-flow, understand repo structure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36499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364992"/>
            <a:ext cx="91440" cy="53035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107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10:45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685800" cy="1828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LAB 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34440" y="3401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CI Pipeline Deep Dive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34440" y="3639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quality → security (Semgrep/Grype/Trivy) → build → push → IDP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977640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977640"/>
            <a:ext cx="91440" cy="53035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233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11:30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224528"/>
            <a:ext cx="685800" cy="1828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24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LAB 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234440" y="4014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Artifact Registry &amp; Security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234440" y="4251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HAR, scan results, CVE visibility, scorecard integration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590288"/>
            <a:ext cx="3703320" cy="530352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590288"/>
            <a:ext cx="91440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360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12:00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234440" y="46268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Break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234440" y="4864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90 min  —  back at 13:30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520293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5202936"/>
            <a:ext cx="91440" cy="53035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2486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13:30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5449824"/>
            <a:ext cx="685800" cy="1828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449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LAB 5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234440" y="52395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IDP Catalog &amp; Scorecards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234440" y="54772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Explore catalog entity, review service-readiness &amp; security scorecards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43400" y="1527048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43400" y="1527048"/>
            <a:ext cx="9144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1572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14:15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480560" y="1773936"/>
            <a:ext cx="685800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1773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ADV 1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257800" y="1563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Policy as Code (OPA)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25780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Deployment gates, privilege controls, OPA rules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343400" y="213969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343400" y="2139696"/>
            <a:ext cx="9144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80560" y="21854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14:45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480560" y="2386584"/>
            <a:ext cx="685800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0" y="23865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ADV 2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257800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CD Deployment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257800" y="2414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HAR → K8s, blue-green/canary, full CI→CD chain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43400" y="2752344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343400" y="2752344"/>
            <a:ext cx="9144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80560" y="27980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15:15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480560" y="2999232"/>
            <a:ext cx="685800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29992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ADV 3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257800" y="27889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IDP Deep-dive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5257800" y="30266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Custom properties, tech radar, plugins, advanced catalog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343400" y="336499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343400" y="3364992"/>
            <a:ext cx="9144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80560" y="34107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16:00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80560" y="3611880"/>
            <a:ext cx="685800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8056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D1E"/>
                </a:solidFill>
              </a:rPr>
              <a:t>Q&amp;A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257800" y="3401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Wrap-up &amp; Discussion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5257800" y="3639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Open floor: advanced patterns, next steps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366760" y="1527048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8366760" y="1527048"/>
            <a:ext cx="91440" cy="53035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49640" y="15636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Branded slide deck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549640" y="1819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This presentation, fully editable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366760" y="213969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8366760" y="2139696"/>
            <a:ext cx="91440" cy="53035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549640" y="2176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Lab guide PDFs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8549640" y="2432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Step-by-step instructions for all 5 labs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366760" y="2752344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8366760" y="2752344"/>
            <a:ext cx="91440" cy="53035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549640" y="2788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Facilitator guide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8549640" y="3044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Timing, tips, common issues + answers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8366760" y="336499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8366760" y="3364992"/>
            <a:ext cx="91440" cy="53035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549640" y="34015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guest-flow repo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8549640" y="3657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Full reference project: pipelines, scorecards, workflows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8366760" y="3977640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8366760" y="3977640"/>
            <a:ext cx="91440" cy="53035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549640" y="40142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Env setup checklist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8549640" y="4270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Pre-requisites &amp; sandbox configuration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5029200" cy="50292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Reality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BF"/>
                </a:solidFill>
              </a:rPr>
              <a:t>Before talking about solutions, let's feel the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1920240"/>
          </a:xfrm>
          <a:prstGeom prst="rect">
            <a:avLst/>
          </a:prstGeom>
          <a:solidFill>
            <a:srgbClr val="0F1B3C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4"/>
                </a:solidFill>
              </a:rPr>
              <a:t>Fragmented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3911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D0"/>
                </a:solidFill>
              </a:rPr>
              <a:t>Repos, Jira, Confluence, Slack, CI dashboards — everything lives in a different place.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657600" cy="1920240"/>
          </a:xfrm>
          <a:prstGeom prst="rect">
            <a:avLst/>
          </a:prstGeom>
          <a:solidFill>
            <a:srgbClr val="0F1B3C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508760"/>
            <a:ext cx="3657600" cy="41148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4"/>
                </a:solidFill>
              </a:rPr>
              <a:t>Zero Discoverability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62272" y="203911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D0"/>
                </a:solidFill>
              </a:rPr>
              <a:t>"Who owns this service?" "Where is the deploy pipeline?" Nobody knows.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657600" cy="1920240"/>
          </a:xfrm>
          <a:prstGeom prst="rect">
            <a:avLst/>
          </a:prstGeom>
          <a:solidFill>
            <a:srgbClr val="0F1B3C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508760"/>
            <a:ext cx="3657600" cy="41148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4"/>
                </a:solidFill>
              </a:rPr>
              <a:t>Slow Onboarding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02752" y="203911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D0"/>
                </a:solidFill>
              </a:rPr>
              <a:t>Weeks for a new dev to spin up and ship their first service to production.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657600" cy="1920240"/>
          </a:xfrm>
          <a:prstGeom prst="rect">
            <a:avLst/>
          </a:prstGeom>
          <a:solidFill>
            <a:srgbClr val="0F1B3C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49040"/>
            <a:ext cx="3657600" cy="41148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4"/>
                </a:solidFill>
              </a:rPr>
              <a:t>Repetitive Toil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427939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D0"/>
                </a:solidFill>
              </a:rPr>
              <a:t>Every team re-creates pipelines, Dockerfiles, repo structure from scratch. No standards.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657600" cy="1920240"/>
          </a:xfrm>
          <a:prstGeom prst="rect">
            <a:avLst/>
          </a:prstGeom>
          <a:solidFill>
            <a:srgbClr val="0F1B3C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749040"/>
            <a:ext cx="3657600" cy="41148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4"/>
                </a:solidFill>
              </a:rPr>
              <a:t>Platform Debt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62272" y="427939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D0"/>
                </a:solidFill>
              </a:rPr>
              <a:t>Ownerless services, stale catalogs, quality metrics invisible to everyone.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3749040"/>
            <a:ext cx="3657600" cy="1920240"/>
          </a:xfrm>
          <a:prstGeom prst="rect">
            <a:avLst/>
          </a:prstGeom>
          <a:solidFill>
            <a:srgbClr val="0F1B3C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3749040"/>
            <a:ext cx="3657600" cy="41148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DE4"/>
                </a:solidFill>
              </a:rPr>
              <a:t>Platform Eng. Bottleneck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02752" y="427939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D0"/>
                </a:solidFill>
              </a:rPr>
              <a:t>Platform teams become ticket bots. No time left to innovate.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</a:rPr>
              <a:t>One Platform, Multiple Superpowers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Harness modules we'll explore today — and how they connect.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371600" cy="8686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D1E"/>
                </a:solidFill>
              </a:rPr>
              <a:t>IDP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371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Internal Developer Portal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240" y="17465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Catalog, self-service, scorecards, 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691640"/>
            <a:ext cx="182880" cy="1371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1371600" cy="8686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468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D1E"/>
                </a:solidFill>
              </a:rPr>
              <a:t>CI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20240" y="2514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Continuous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28895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Build, test, publish — intelligent pipelines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2834640"/>
            <a:ext cx="182880" cy="13716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11880"/>
            <a:ext cx="1371600" cy="8686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611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D1E"/>
                </a:solidFill>
              </a:rPr>
              <a:t>CD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20240" y="3657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Continuous Delivery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40325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Multi-cloud deploy, GitOps, automated verification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3977640"/>
            <a:ext cx="182880" cy="13716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754880"/>
            <a:ext cx="137160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754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0D1E"/>
                </a:solidFill>
              </a:rPr>
              <a:t>STO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920240" y="4800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Security Testing Orchestration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20240" y="51755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Security scanning baked into every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37360" y="5120640"/>
            <a:ext cx="182880" cy="137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18872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How They Connect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2011680"/>
            <a:ext cx="2011680" cy="20116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3816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IDP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7512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DE4"/>
                </a:solidFill>
              </a:rPr>
              <a:t>CI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DE4"/>
                </a:solidFill>
              </a:rPr>
              <a:t>Build &amp; Test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0" y="4251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CD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Deploy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3272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STO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B0FF"/>
                </a:solidFill>
              </a:rPr>
              <a:t>Catalog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0B0FF"/>
                </a:solidFill>
              </a:rPr>
              <a:t>Live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3017520"/>
            <a:ext cx="-822960" cy="1234440"/>
          </a:xfrm>
          <a:prstGeom prst="line">
            <a:avLst/>
          </a:prstGeom>
          <a:noFill/>
          <a:ln w="19050">
            <a:solidFill>
              <a:srgbClr val="00ADE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149840" y="3017520"/>
            <a:ext cx="822960" cy="1234440"/>
          </a:xfrm>
          <a:prstGeom prst="line">
            <a:avLst/>
          </a:prstGeom>
          <a:noFill/>
          <a:ln w="19050">
            <a:solidFill>
              <a:srgbClr val="00C48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0149840" y="3017520"/>
            <a:ext cx="822960" cy="-640080"/>
          </a:xfrm>
          <a:prstGeom prst="line">
            <a:avLst/>
          </a:prstGeom>
          <a:noFill/>
          <a:ln w="19050">
            <a:solidFill>
              <a:srgbClr val="FFD16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229600" y="3017520"/>
            <a:ext cx="-822960" cy="-640080"/>
          </a:xfrm>
          <a:prstGeom prst="line">
            <a:avLst/>
          </a:prstGeom>
          <a:noFill/>
          <a:ln w="19050">
            <a:solidFill>
              <a:srgbClr val="E0B0FF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371600"/>
            <a:ext cx="4572000" cy="4572000"/>
          </a:xfrm>
          <a:prstGeom prst="ellipse">
            <a:avLst/>
          </a:prstGeom>
          <a:solidFill>
            <a:srgbClr val="00ADE4">
              <a:alpha val="12000"/>
            </a:srgbClr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828800" cy="34747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D1E"/>
                </a:solidFill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BF"/>
                </a:solidFill>
              </a:rPr>
              <a:t>09:30 – 12:00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Core Labs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B4D0"/>
                </a:solidFill>
              </a:rPr>
              <a:t>Hands-on labs using the guest-flow reference project.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B4D0"/>
                </a:solidFill>
              </a:rPr>
              <a:t>From self-service onboarding all the way to live scorecards.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709160"/>
            <a:ext cx="356616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709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Lab 1: Self-Service Onboarding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4709160"/>
            <a:ext cx="356616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4709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Lab 2: Code &amp; Repo Exploration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4709160"/>
            <a:ext cx="356616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4709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Lab 3: CI Pipeline Deep Dive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5367528"/>
            <a:ext cx="356616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3675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Lab 4: Artifact Registry &amp; Security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5367528"/>
            <a:ext cx="356616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3675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Lab 5: IDP Catalog &amp; Scorecards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</a:rPr>
              <a:t>What is Harness IDP?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developer portal built on Backstage, natively integrated with the Harness platform.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577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Software Catalog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Centralized inventory of all services, APIs, libraries, and resources in the organization.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68296"/>
            <a:ext cx="5577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68296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597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Self-Service Workflows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072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Scaffolding templates that create repos, pipelines, and CD services — all at once.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410712"/>
            <a:ext cx="5577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10712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021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Scorecards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8496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Maturity metrics per service: test coverage, deploy frequency, open CVEs.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453128"/>
            <a:ext cx="5577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453128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5445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Plugins &amp; Integrations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892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Backstage plugins + native integrations with CI, CD, STO, PagerDuty, GitHub, and more.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5495544"/>
            <a:ext cx="5577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5495544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5869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DORA &amp; Metrics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59344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Lead time, deployment frequency, MTTR, change failure rate — surfaced in the catalog.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325880"/>
            <a:ext cx="534924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Built on Backstage (CNCF)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1920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Harness IDP uses Backstage as its engine but eliminates all installation, maintenance, and integration complexity. It's enterprise-ready Backstage, already connected to your CI/CD.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840480"/>
            <a:ext cx="5349240" cy="2377440"/>
          </a:xfrm>
          <a:prstGeom prst="rect">
            <a:avLst/>
          </a:prstGeom>
          <a:solidFill>
            <a:srgbClr val="0F1B3C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IDP matters for Platform Eng.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44805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Reduces onboarding from weeks to hours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4892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Eliminates repetitive tickets to the platform team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53035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Creates standards without sacrificing agility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57150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</a:rPr>
              <a:t>Check  </a:t>
            </a:r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Real visibility into service health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Software Catalog — The Backbone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centralized registry of everything that exists: services, APIs, libraries, pipelines, teams, systems.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Entity Types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5603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D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109728" cy="713232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Component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Services, libs, apps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5603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91640"/>
            <a:ext cx="109728" cy="7132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OpenAPI, gRPC, GraphQL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5603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109728" cy="71323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 groupings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560320"/>
            <a:ext cx="25603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560320"/>
            <a:ext cx="10972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Domain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Business area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25603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29000"/>
            <a:ext cx="109728" cy="7132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Resource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DBs, queues, infra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429000"/>
            <a:ext cx="25603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A0B4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429000"/>
            <a:ext cx="109728" cy="713232"/>
          </a:xfrm>
          <a:prstGeom prst="rect">
            <a:avLst/>
          </a:prstGeom>
          <a:solidFill>
            <a:srgbClr val="A0B4D0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Group/User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Teams and people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1280160"/>
            <a:ext cx="534924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What the Catalog Makes Possible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-&gt;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Clear Ownership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2167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service has an owner. No more "who manages this?"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-&gt;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Discoverability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2898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Full-text search across services, APIs, and tech docs.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-&gt;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Dependency Mapping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3630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Visualize dependencies between components and systems.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-&gt;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Integrated TechDocs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4361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Technical docs live alongside the service itself.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368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-&gt;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951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Health Scores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95160" y="5093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Quality, security, and operability in a single view.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8368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-&gt;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9516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Self-Service Base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95160" y="5824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Templates automatically create entities in the catalog.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catalog-info.yaml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ABF"/>
                </a:solidFill>
              </a:rPr>
              <a:t>The service identity contract in the catalog. Lives in the repo, alongside the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6309360" cy="5120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backstage.io/v1alpha1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26387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71446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16506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</a:t>
            </a:r>
            <a:pPr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payments-service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461565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</a:t>
            </a:r>
            <a:pPr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"Payments API"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annotations: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51683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harness.io/project-url</a:t>
            </a:r>
            <a:pPr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https://app.harness.io/...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196742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harness.io/cd-serviceId</a:t>
            </a:r>
            <a:pPr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payments-svc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441802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pagerduty.com/service-id</a:t>
            </a:r>
            <a:pPr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PD-1234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686861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[payments, java, critical]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176979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422038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lifecycle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production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667098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</a:t>
            </a:r>
            <a:pPr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team-payments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912157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</a:t>
            </a:r>
            <a:pPr indent="0" marL="0">
              <a:buNone/>
            </a:pPr>
            <a:r>
              <a:rPr lang="en-US" sz="11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checkout-system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5157216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dependsOn: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5402275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component:default/user-service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647334"/>
            <a:ext cx="5943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resource:default/postgres-payments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1417320"/>
            <a:ext cx="4846320" cy="658368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417320"/>
            <a:ext cx="109728" cy="658368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5087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Kind defines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entity type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331720"/>
            <a:ext cx="4846320" cy="658368"/>
          </a:xfrm>
          <a:prstGeom prst="rect">
            <a:avLst/>
          </a:prstGeom>
          <a:solidFill>
            <a:srgbClr val="0F1B3C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2331720"/>
            <a:ext cx="109728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4231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Harness annotations: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connect to CI/CD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3246120"/>
            <a:ext cx="4846320" cy="658368"/>
          </a:xfrm>
          <a:prstGeom prst="rect">
            <a:avLst/>
          </a:prstGeom>
          <a:solidFill>
            <a:srgbClr val="0F1B3C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3246120"/>
            <a:ext cx="109728" cy="65836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33375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Tags for filtering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and searching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03720" y="4114800"/>
            <a:ext cx="4846320" cy="658368"/>
          </a:xfrm>
          <a:prstGeom prst="rect">
            <a:avLst/>
          </a:prstGeom>
          <a:solidFill>
            <a:srgbClr val="0F1B3C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4114800"/>
            <a:ext cx="109728" cy="6583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42062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Owner = responsible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team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03720" y="4983480"/>
            <a:ext cx="4846320" cy="658368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4983480"/>
            <a:ext cx="109728" cy="658368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50749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dependsOn maps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D0E8"/>
                </a:solidFill>
              </a:rPr>
              <a:t>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D1E"/>
                </a:solidFill>
              </a:rPr>
              <a:t>LAB 1  —  Self-Service Onboarding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875520" y="256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0D1E"/>
                </a:solidFill>
              </a:rPr>
              <a:t>~30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Goal: Use the IDP new-project workflow to spin up a complete project — GitHub repo, Harness project, CI pipeline, and catalog entry — in one click.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057400" cy="749808"/>
          </a:xfrm>
          <a:prstGeom prst="rect">
            <a:avLst/>
          </a:prstGeom>
          <a:solidFill>
            <a:srgbClr val="0A1A30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DE4"/>
                </a:solidFill>
              </a:rPr>
              <a:t>IDP Workflow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ADE4"/>
                </a:solidFill>
              </a:rPr>
              <a:t>new-project.yaml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2039112"/>
            <a:ext cx="24688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1664208"/>
            <a:ext cx="2057400" cy="749808"/>
          </a:xfrm>
          <a:prstGeom prst="rect">
            <a:avLst/>
          </a:prstGeom>
          <a:solidFill>
            <a:srgbClr val="0A1A3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66420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61FF"/>
                </a:solidFill>
              </a:rPr>
              <a:t>fetch: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61FF"/>
                </a:solidFill>
              </a:rPr>
              <a:t>cookiecutter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18888" y="2039112"/>
            <a:ext cx="24688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5776" y="1664208"/>
            <a:ext cx="2057400" cy="749808"/>
          </a:xfrm>
          <a:prstGeom prst="rect">
            <a:avLst/>
          </a:prstGeom>
          <a:solidFill>
            <a:srgbClr val="0A1A30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166420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48C"/>
                </a:solidFill>
              </a:rPr>
              <a:t>publish: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C48C"/>
                </a:solidFill>
              </a:rPr>
              <a:t>github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23176" y="2039112"/>
            <a:ext cx="24688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1664208"/>
            <a:ext cx="2057400" cy="749808"/>
          </a:xfrm>
          <a:prstGeom prst="rect">
            <a:avLst/>
          </a:prstGeom>
          <a:solidFill>
            <a:srgbClr val="0A1A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0064" y="166420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trigger: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project_setup_v2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427464" y="2039112"/>
            <a:ext cx="24688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74352" y="1664208"/>
            <a:ext cx="2057400" cy="749808"/>
          </a:xfrm>
          <a:prstGeom prst="rect">
            <a:avLst/>
          </a:prstGeom>
          <a:solidFill>
            <a:srgbClr val="0A1A30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74352" y="166420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DE4"/>
                </a:solidFill>
              </a:rPr>
              <a:t>Catalog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ADE4"/>
                </a:solidFill>
              </a:rPr>
              <a:t>Registered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578608"/>
            <a:ext cx="5394960" cy="1115568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807208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26700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IDP -&gt; Create Component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29992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Select the "New Project" workflow from the Software Templates catalog.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578608"/>
            <a:ext cx="5394960" cy="1115568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2807208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6700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Fill the workflow 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9992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Enter: app_name, service_name, service_type (api/web/worker), project_name, admin_email.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5394960" cy="1115568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4069080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3444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Watch the execution steps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42611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Observe each action: cookiecutter scaffold → GitHub repo created → project_setup_v2 pipeline triggered.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5394960" cy="1115568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4069080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Inspect project_setup_v2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42611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Open the triggered pipeline in Harness CI. It creates: Harness project, repo, CI pipeline configuration.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102352"/>
            <a:ext cx="5394960" cy="1115568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4360" y="5330952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34440" y="5193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Verify GitHub repo structure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34440" y="55229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Check the generated repo: catalog-info.yaml, pipelines/, scorecards/, Dockerfile, README present.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5102352"/>
            <a:ext cx="5394960" cy="1115568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55080" y="5330952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95160" y="5193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Find service in IDP catalog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95160" y="55229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Navigate to IDP Catalog. Your new service is registered. Review entity overview, owner, annotations.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327648"/>
            <a:ext cx="11247120" cy="347472"/>
          </a:xfrm>
          <a:prstGeom prst="rect">
            <a:avLst/>
          </a:prstGeom>
          <a:solidFill>
            <a:srgbClr val="081020"/>
          </a:solidFill>
          <a:ln w="12700">
            <a:solidFill>
              <a:srgbClr val="081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80A0"/>
                </a:solidFill>
              </a:rPr>
              <a:t>Environment: Harness Sandbox + GitHub provided  |  Workflow file: workflows/new-project.yaml in guest-flow repo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 2  —  Code &amp; Repo Exploration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875520" y="256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0C0FF"/>
                </a:solidFill>
              </a:rPr>
              <a:t>~20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Goal: Open the guest-flow repo in Harness Code. Understand how the project is structured — catalog, pipelines, scorecards, workflows — and how a code change triggers CI.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03520" cy="4434840"/>
          </a:xfrm>
          <a:prstGeom prst="rect">
            <a:avLst/>
          </a:prstGeom>
          <a:solidFill>
            <a:srgbClr val="0A1228"/>
          </a:solidFill>
          <a:ln w="12700">
            <a:solidFill>
              <a:srgbClr val="252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guest-flow/  (repository structure)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guestflow-api.yaml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guestflow-web.yaml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guestflow-system.yaml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idp-checks/  (check definitions)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pipelines/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5204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harness-ci-pipeline.yaml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harness-cd-pipeline.yaml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project_setup.yaml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scorecards/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44348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service-readiness-scorecard.yaml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security-scorecard.yaml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workflows/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51206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new-project.yaml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53492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new-service.yaml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openapi.yaml, runbook.md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691640"/>
            <a:ext cx="5623560" cy="777240"/>
          </a:xfrm>
          <a:prstGeom prst="rect">
            <a:avLst/>
          </a:prstGeom>
          <a:solidFill>
            <a:srgbClr val="0A1228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828800"/>
            <a:ext cx="475488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Open Harness Code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12280" y="2057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Navigate to Code Repository for the guest-flow project. Browse the file tree.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606040"/>
            <a:ext cx="5623560" cy="777240"/>
          </a:xfrm>
          <a:prstGeom prst="rect">
            <a:avLst/>
          </a:prstGeom>
          <a:solidFill>
            <a:srgbClr val="0A1228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743200"/>
            <a:ext cx="475488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Explore catalog/ entities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12280" y="2971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Open guestflow-api.yaml. Find: owner, system, annotations, dependsOn. Compare with IDP catalog view.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3520440"/>
            <a:ext cx="5623560" cy="777240"/>
          </a:xfrm>
          <a:prstGeom prst="rect">
            <a:avLst/>
          </a:prstGeom>
          <a:solidFill>
            <a:srgbClr val="0A1228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657600"/>
            <a:ext cx="475488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Read harness-ci-pipeline.yaml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12280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Identify the 5 stages: quality, security (semgrep/grype/trivy), build, push, idp-scorecard-update.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4434840"/>
            <a:ext cx="5623560" cy="777240"/>
          </a:xfrm>
          <a:prstGeom prst="rect">
            <a:avLst/>
          </a:prstGeom>
          <a:solidFill>
            <a:srgbClr val="0A1228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4572000"/>
            <a:ext cx="475488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572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4498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Find the IDP check definitions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12280" y="4800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Open catalog/idp-checks/. See how sast-no-critical-findings.yaml and container-scan-no-critical-cve.yaml are defined.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5349240"/>
            <a:ext cx="5623560" cy="777240"/>
          </a:xfrm>
          <a:prstGeom prst="rect">
            <a:avLst/>
          </a:prstGeom>
          <a:solidFill>
            <a:srgbClr val="0A1228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5486400"/>
            <a:ext cx="475488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5486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12280" y="5413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Trace a code change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812280" y="57150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0"/>
                </a:solidFill>
              </a:rPr>
              <a:t>Make a minor edit in Code. Watch the CI trigger fire. Confirm in IDP that the scorecard check timestamp updates.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6327648"/>
            <a:ext cx="11247120" cy="347472"/>
          </a:xfrm>
          <a:prstGeom prst="rect">
            <a:avLst/>
          </a:prstGeom>
          <a:solidFill>
            <a:srgbClr val="081020"/>
          </a:solidFill>
          <a:ln w="12700">
            <a:solidFill>
              <a:srgbClr val="081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80A0"/>
                </a:solidFill>
              </a:rPr>
              <a:t>No code writing required — read, explore, and trace the flow  |  Harness Code access provided in sandbox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CI Pipeline — Stage by Stage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harness-ci-pipeline.yaml  •  5 stages: quality → security → build → push → IDP update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14300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27048"/>
            <a:ext cx="2011680" cy="31089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27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527048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27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Unit tests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1527048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527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Code lint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26680" y="1527048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527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Sonar 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Fail fast: run unit tests and code quality gates before any security scan.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224028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14300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50008"/>
            <a:ext cx="109728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51176"/>
            <a:ext cx="2011680" cy="31089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511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2551176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551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Semgrep (SAST)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2551176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551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Grype (SCA)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2551176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2551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Trivy (container)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944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Three scanners in parallel. Critical findings block the pipeline.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3264408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374136"/>
            <a:ext cx="114300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74136"/>
            <a:ext cx="109728" cy="91440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75304"/>
            <a:ext cx="2011680" cy="310896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75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88920" y="3575304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35753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Docker build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3575304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5753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Multi-stage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3575304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6680" y="35753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Layer cache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39684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Build the container image using Dockerfile in the repo root.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4400" y="4288536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398264"/>
            <a:ext cx="114300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4398264"/>
            <a:ext cx="109728" cy="9144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599432"/>
            <a:ext cx="2011680" cy="310896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599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88920" y="4599432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88920" y="4599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Harness HAR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57800" y="4599432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4599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Image tag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26680" y="4599432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4599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Digest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49926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Push to Harness Artifact Registry. Tag: branch + commit SHA.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4400" y="5312664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5422392"/>
            <a:ext cx="114300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5422392"/>
            <a:ext cx="10972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623560"/>
            <a:ext cx="2011680" cy="3108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56235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idp-scorecard-update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88920" y="5623560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88920" y="5623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Scorecard API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57800" y="5623560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57800" y="5623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Security checks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26680" y="5623560"/>
            <a:ext cx="2194560" cy="310896"/>
          </a:xfrm>
          <a:prstGeom prst="rect">
            <a:avLst/>
          </a:prstGeom>
          <a:solidFill>
            <a:srgbClr val="E8E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6680" y="5623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Cert of origin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" y="60167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Update IDP scorecard with scan results. Fail on critical CVE policy.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65760" y="647395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</a:rPr>
              <a:t>* Security stage blocks push if any critical finding — policy enforced via OPA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D1E"/>
                </a:solidFill>
              </a:rPr>
              <a:t>LAB 3  —  CI Pipeline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875520" y="256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0D1E"/>
                </a:solidFill>
              </a:rPr>
              <a:t>~35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Goal: Trigger the CI pipeline on guest-flow, follow each stage, inspect security scan results, and confirm that the IDP scorecard is updated automatically after the run.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5394960" cy="1325880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93392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 the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Push a minor code change (e.g., update README) to the guest-flow main branch. Observe CI trigger.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719072"/>
            <a:ext cx="5394960" cy="1325880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993392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Watch the quality stage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Confirm unit tests pass. If a test fails, read the log output and understand the failure gate.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394960" cy="1325880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Inspect the security stage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6393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Open each security step: sast_semgrep, sca_grype, container_scan_trivy. See scan results in Harness STO.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200400"/>
            <a:ext cx="5394960" cy="1325880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474720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Understand scan severity gates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6393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Find the OPA policy step that blocks if critical CVE count &gt; 0. Review what "critical" means in Grype vs Trivy.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81728"/>
            <a:ext cx="5394960" cy="1325880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956048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See the build &amp; push stage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120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Confirm Docker image is built and pushed to HAR. Note the image tag format: branch-commitSHA.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681728"/>
            <a:ext cx="5394960" cy="1325880"/>
          </a:xfrm>
          <a:prstGeom prst="rect">
            <a:avLst/>
          </a:prstGeom>
          <a:solidFill>
            <a:srgbClr val="0A1530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4956048"/>
            <a:ext cx="502920" cy="502920"/>
          </a:xfrm>
          <a:prstGeom prst="ellipse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IDP scorecard after run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5120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In IDP, open the service entity. Review security-scorecard: sast_no_critical_findings and container_scan_no_critical_cve should now show Last Updated = now.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327648"/>
            <a:ext cx="11247120" cy="347472"/>
          </a:xfrm>
          <a:prstGeom prst="rect">
            <a:avLst/>
          </a:prstGeom>
          <a:solidFill>
            <a:srgbClr val="081020"/>
          </a:solidFill>
          <a:ln w="12700">
            <a:solidFill>
              <a:srgbClr val="081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80A0"/>
                </a:solidFill>
              </a:rPr>
              <a:t>Reference: pipelines/harness-ci-pipeline.yaml  |  Security stage: sast_semgrep, sca_grype, container_scan_trivy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Artifact Registry &amp; Security Visibility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After the CI push stage: your image lives in HAR — with full scan history, SBOM, and CVE visibility.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39496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Harness Artifact Registry (HAR)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12064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920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guestflow/api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50008"/>
            <a:ext cx="5120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957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Tag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3957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main-a3f92c1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25496"/>
            <a:ext cx="512064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712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Digest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8712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sha256:a7f3b2...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00984"/>
            <a:ext cx="5120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46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Pushed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33467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2026-06-17  09:42 UTC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76472"/>
            <a:ext cx="512064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22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Size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8221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 MB  (12 layers)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120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Registry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4297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app.harness.io/registry/guest-flow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Security Scan Summary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193792"/>
            <a:ext cx="5120640" cy="292608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212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</a:rPr>
              <a:t>[+] Semgrep (SAST)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5212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critical  2 medium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5559552"/>
            <a:ext cx="5120640" cy="292608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577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</a:rPr>
              <a:t>[+] Grype (SCA)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55778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critical  1 high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925312"/>
            <a:ext cx="5120640" cy="292608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943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</a:rPr>
              <a:t>[+] Trivy (container)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5943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critical  3 medium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1234440"/>
            <a:ext cx="57150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SBOM — Supply Chain Evidence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Generated by: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1874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Harness SCS in CI push stage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2951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Format: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2295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SPDX 2.3 / CycloneDX 1.4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2715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Components: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2715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347 direct + transitive deps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3136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Attestation: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SLSA Level 2 provenance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557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Stored in: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3557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HAR alongside the image digest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80760" y="3840480"/>
            <a:ext cx="571500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26364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What You See in IDP After CI Runs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63640" y="44805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8C"/>
                </a:solidFill>
              </a:rPr>
              <a:t>[+]  </a:t>
            </a:r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Artifact tab: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Image tag, digest, push timestamp — live from HAR.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63640" y="49560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8C"/>
                </a:solidFill>
              </a:rPr>
              <a:t>[+]  </a:t>
            </a:r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Security scorecard: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sast/sca/container scan checks updated from this run.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63640" y="54315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8C"/>
                </a:solidFill>
              </a:rPr>
              <a:t>[+]  </a:t>
            </a:r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SBOM link: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Click through to the SBOM stored in HAR — per version.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63640" y="59070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8C"/>
                </a:solidFill>
              </a:rPr>
              <a:t>[+]  </a:t>
            </a:r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CI pipeline badge: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Pass/fail, duration, last commit SHA on the entity page.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 4  —  Artifact Registry &amp;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875520" y="256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D0D0"/>
                </a:solidFill>
              </a:rPr>
              <a:t>~25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Goal: Navigate Harness Artifact Registry and Harness STO to understand what was pushed after CI, examine the SBOM, and review scan findings against the scorecard gates.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5394960" cy="1325880"/>
          </a:xfrm>
          <a:prstGeom prst="rect">
            <a:avLst/>
          </a:prstGeom>
          <a:solidFill>
            <a:srgbClr val="15060A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93392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Harness Artifact Registry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Navigate to HAR in the guest-flow project. Find the guestflow/api repository.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719072"/>
            <a:ext cx="5394960" cy="1325880"/>
          </a:xfrm>
          <a:prstGeom prst="rect">
            <a:avLst/>
          </a:prstGeom>
          <a:solidFill>
            <a:srgbClr val="15060A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993392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Inspect the latest artifact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Click the most recent image tag. Review: digest, layers, size, push timestamp, and build metadata.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394960" cy="1325880"/>
          </a:xfrm>
          <a:prstGeom prst="rect">
            <a:avLst/>
          </a:prstGeom>
          <a:solidFill>
            <a:srgbClr val="15060A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the SBOM tab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6393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In HAR, open the SBOM for this artifact. Identify: total component count, licenses, and any flagged packages.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200400"/>
            <a:ext cx="5394960" cy="1325880"/>
          </a:xfrm>
          <a:prstGeom prst="rect">
            <a:avLst/>
          </a:prstGeom>
          <a:solidFill>
            <a:srgbClr val="15060A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47472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STO scan results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6393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In Harness STO, open the security test report for this pipeline run. Find Semgrep, Grype, and Trivy findings.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81728"/>
            <a:ext cx="5394960" cy="1325880"/>
          </a:xfrm>
          <a:prstGeom prst="rect">
            <a:avLst/>
          </a:prstGeom>
          <a:solidFill>
            <a:srgbClr val="15060A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956048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Understand severity vs. gate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120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Look at the 1 high Grype finding. Why didn't it block? Confirm the gate policy: blocks only on critical.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681728"/>
            <a:ext cx="5394960" cy="1325880"/>
          </a:xfrm>
          <a:prstGeom prst="rect">
            <a:avLst/>
          </a:prstGeom>
          <a:solidFill>
            <a:srgbClr val="15060A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4956048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 to IDP scorecard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5120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Return to IDP. Open the security-scorecard for the guestflow-api entity. Confirm scan checks show the latest CI run.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327648"/>
            <a:ext cx="11247120" cy="347472"/>
          </a:xfrm>
          <a:prstGeom prst="rect">
            <a:avLst/>
          </a:prstGeom>
          <a:solidFill>
            <a:srgbClr val="0A0205"/>
          </a:solidFill>
          <a:ln w="12700">
            <a:solidFill>
              <a:srgbClr val="0A020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4040"/>
                </a:solidFill>
              </a:rPr>
              <a:t>No writing required — read-only exploration of HAR, STO, and IDP  |  scorecard: scorecards/security-scorecard.yaml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44"/>
                </a:solidFill>
              </a:rPr>
              <a:t>Scorecards in IDP — Real Data from guest-flow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Two scorecards drive quality gates in the guest-flow project — both sourced from CI pipeline outputs.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5349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577840" cy="457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service-readiness-scorecard.yaml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0" y="1755648"/>
            <a:ext cx="1600200" cy="16002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0" y="175564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3401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61FF"/>
                </a:solidFill>
              </a:rPr>
              <a:t>Production-Ready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registered_in_catalog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lifecycle_defined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tier_defined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runbook_available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readiness_endpoint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service_owner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 openapi_spec_published  (CI-driven)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5577840" cy="5349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CC2244"/>
          </a:solidFill>
          <a:ln w="12700">
            <a:solidFill>
              <a:srgbClr val="CC22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34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security-scorecard.yaml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0" y="1755648"/>
            <a:ext cx="1600200" cy="1600200"/>
          </a:xfrm>
          <a:prstGeom prst="ellipse">
            <a:avLst/>
          </a:prstGeom>
          <a:solidFill>
            <a:srgbClr val="CC2244"/>
          </a:solidFill>
          <a:ln w="12700">
            <a:solidFill>
              <a:srgbClr val="CC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84080" y="175564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555480" y="3401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2244"/>
                </a:solidFill>
              </a:rPr>
              <a:t>Elite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18745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sast_no_critical_findings   (Semgrep)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sca_no_critical_vulnerabilities (Grype)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7889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container_scan_no_critical_cve (Trivy)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 critical_vulns_block_deployment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886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 checks are CI-driven — updated automatically on every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pipeline run via the idp-scorecard-update stage.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617720"/>
            <a:ext cx="5577840" cy="1920240"/>
          </a:xfrm>
          <a:prstGeom prst="rect">
            <a:avLst/>
          </a:prstGeom>
          <a:solidFill>
            <a:srgbClr val="FFF4F7"/>
          </a:solidFill>
          <a:ln w="10160">
            <a:solidFill>
              <a:srgbClr val="FF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7365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2244"/>
                </a:solidFill>
              </a:rPr>
              <a:t>What happens when a check fails?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507492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sast_no_critical_findings = FAIL: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Scorecard score drops → Service marked at-risk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OPA gate blocks CD deployment to staging/prod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Team lead notified via webhook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D1E"/>
                </a:solidFill>
              </a:rPr>
              <a:t>LAB 5  —  IDP Catalog &amp; Scorecards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875520" y="256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6030"/>
                </a:solidFill>
              </a:rPr>
              <a:t>~30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E8"/>
                </a:solidFill>
              </a:rPr>
              <a:t>Goal: Explore the guestflow-api entity in IDP, review both scorecards end-to-end, understand what each check measures, and trace a failing check back to its source in the repo.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5394960" cy="1325880"/>
          </a:xfrm>
          <a:prstGeom prst="rect">
            <a:avLst/>
          </a:prstGeom>
          <a:solidFill>
            <a:srgbClr val="0A1A10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93392"/>
            <a:ext cx="502920" cy="50292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guestflow-api in IDP Catalog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Navigate to IDP -&gt; Catalog -&gt; guestflow-api. Review: owner, system, annotations, tech-docs tab.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719072"/>
            <a:ext cx="5394960" cy="1325880"/>
          </a:xfrm>
          <a:prstGeom prst="rect">
            <a:avLst/>
          </a:prstGeom>
          <a:solidFill>
            <a:srgbClr val="0A1A10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993392"/>
            <a:ext cx="502920" cy="50292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the Service Readiness scorecard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Check all 7 checks. Find openapi_spec_published = failing. Why? Trace to catalog/idp-checks/openapi-spec-published.yaml.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394960" cy="1325880"/>
          </a:xfrm>
          <a:prstGeom prst="rect">
            <a:avLst/>
          </a:prstGeom>
          <a:solidFill>
            <a:srgbClr val="0A1A10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the Security scorecard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6393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Confirm all 4 checks pass (95% Elite). Click each check — see the last CI run that satisfied 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200400"/>
            <a:ext cx="5394960" cy="1325880"/>
          </a:xfrm>
          <a:prstGeom prst="rect">
            <a:avLst/>
          </a:prstGeom>
          <a:solidFill>
            <a:srgbClr val="0A1A10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474720"/>
            <a:ext cx="502920" cy="50292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 a check definition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6393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Open catalog/idp-checks/sast-no-critical-findings.yaml. Read: data source (STO), condition (count == 0), failure behavior.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81728"/>
            <a:ext cx="5394960" cy="1325880"/>
          </a:xfrm>
          <a:prstGeom prst="rect">
            <a:avLst/>
          </a:prstGeom>
          <a:solidFill>
            <a:srgbClr val="0A1A10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956048"/>
            <a:ext cx="502920" cy="50292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the CI/CD tab on the entity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120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Confirm pipeline runs are surfaced: last build, last deploy, deployment frequency, lead time.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681728"/>
            <a:ext cx="5394960" cy="1325880"/>
          </a:xfrm>
          <a:prstGeom prst="rect">
            <a:avLst/>
          </a:prstGeom>
          <a:solidFill>
            <a:srgbClr val="0A1A10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4956048"/>
            <a:ext cx="502920" cy="50292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E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 the failing check (bonus)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5120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Publish an openapi.yaml via CI (docs/openapi.yaml already exists). Trigger CI, confirm openapi_spec_published turns green.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327648"/>
            <a:ext cx="11247120" cy="347472"/>
          </a:xfrm>
          <a:prstGeom prst="rect">
            <a:avLst/>
          </a:prstGeom>
          <a:solidFill>
            <a:srgbClr val="040A06"/>
          </a:solidFill>
          <a:ln w="12700">
            <a:solidFill>
              <a:srgbClr val="040A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6050"/>
                </a:solidFill>
              </a:rPr>
              <a:t>Reference: scorecards/service-readiness-scorecard.yaml  |  catalog/idp-checks/  |  catalog/guestflow-api.yaml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371600"/>
            <a:ext cx="5029200" cy="50292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82880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D1E"/>
                </a:solidFill>
              </a:rPr>
              <a:t>PHASE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BF"/>
                </a:solidFill>
              </a:rPr>
              <a:t>14:15 – 16:00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B4D0"/>
                </a:solidFill>
              </a:rPr>
              <a:t>Go deeper: governance, full deployment flows,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B4D0"/>
                </a:solidFill>
              </a:rPr>
              <a:t>supply chain security, and IDP extensibility.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754880"/>
            <a:ext cx="260604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7548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Policy as Code (OPA)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4754880"/>
            <a:ext cx="260604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47548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CD Deployment — Full 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4754880"/>
            <a:ext cx="260604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47548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IDP Deep-dive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06840" y="4754880"/>
            <a:ext cx="2606040" cy="530352"/>
          </a:xfrm>
          <a:prstGeom prst="rect">
            <a:avLst/>
          </a:prstGeom>
          <a:solidFill>
            <a:srgbClr val="0F1B3C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47548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Wrap-up &amp; Q&amp;A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Policy as Code — OPA Deployment Gates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OPA (Open Policy Agent) in Harness enforces governance rules that block deployments to wrong environments.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394960" cy="5349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What Policies Govern in guest-flow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120640" cy="777240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47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2244"/>
                </a:solidFill>
              </a:rPr>
              <a:t>[x]  No deploy to prod if critical CVE &gt; 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Grype/Trivy findings checked before CD stage triggers.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12064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62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2244"/>
                </a:solidFill>
              </a:rPr>
              <a:t>[x]  No prod deploy without scorecard &gt;= 80%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1729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service-readiness-scorecard score evaluated by OPA gate.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5120640" cy="777240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76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2244"/>
                </a:solidFill>
              </a:rPr>
              <a:t>[x]  Staging only from main branch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087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Feature branches can only deploy to dev environment.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512064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6908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2244"/>
                </a:solidFill>
              </a:rPr>
              <a:t>[x]  No skip of security stage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5001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Pipeline template enforces security stage as mandatory.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5532120"/>
            <a:ext cx="5120640" cy="777240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605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[!]  Warn if no runbook on production entity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5916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runbook_available check triggers a warning, not a block.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1234440"/>
            <a:ext cx="5715000" cy="2651760"/>
          </a:xfrm>
          <a:prstGeom prst="rect">
            <a:avLst/>
          </a:prstGeom>
          <a:solidFill>
            <a:srgbClr val="080D1E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Where OPA runs in harness-ci-pipeline.yaml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5394960" cy="384048"/>
          </a:xfrm>
          <a:prstGeom prst="rect">
            <a:avLst/>
          </a:prstGeom>
          <a:solidFill>
            <a:srgbClr val="0F1B3C"/>
          </a:solidFill>
          <a:ln w="3810">
            <a:solidFill>
              <a:srgbClr val="2A3A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stage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→  critical_vulns_block_deployment check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2304288"/>
            <a:ext cx="5394960" cy="384048"/>
          </a:xfrm>
          <a:prstGeom prst="rect">
            <a:avLst/>
          </a:prstGeom>
          <a:solidFill>
            <a:srgbClr val="0F1B3C"/>
          </a:solidFill>
          <a:ln w="3810">
            <a:solidFill>
              <a:srgbClr val="2A3A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350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post-build gate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2350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→  scorecard score evaluation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2779776"/>
            <a:ext cx="5394960" cy="384048"/>
          </a:xfrm>
          <a:prstGeom prst="rect">
            <a:avLst/>
          </a:prstGeom>
          <a:solidFill>
            <a:srgbClr val="0F1B3C"/>
          </a:solidFill>
          <a:ln w="3810">
            <a:solidFill>
              <a:srgbClr val="2A3A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825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trigger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→  branch + env combination validation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3255264"/>
            <a:ext cx="5394960" cy="384048"/>
          </a:xfrm>
          <a:prstGeom prst="rect">
            <a:avLst/>
          </a:prstGeom>
          <a:solidFill>
            <a:srgbClr val="0F1B3C"/>
          </a:solidFill>
          <a:ln w="3810">
            <a:solidFill>
              <a:srgbClr val="2A3A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promote gate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0" y="3300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→  full policy bundle evaluation (Rego)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4023360"/>
            <a:ext cx="57150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41605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Privilege Controls via IDP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0760" y="4645152"/>
            <a:ext cx="5715000" cy="393192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681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Role-based access: 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55280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RBAC in Harness controls who can trigger prod deploys from IDP workflows.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5120640"/>
            <a:ext cx="5715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5157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Approval gates: 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5157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CD pipelines require manager approval before promoting to production.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5596128"/>
            <a:ext cx="5715000" cy="393192"/>
          </a:xfrm>
          <a:prstGeom prst="rect">
            <a:avLst/>
          </a:prstGeom>
          <a:solidFill>
            <a:srgbClr val="F7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5632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Audit trail: 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55280" y="5632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Every IDP-triggered action is logged with user, timestamp, inputs.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6071616"/>
            <a:ext cx="5715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6108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Environment scoping: 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55280" y="6108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IDP workflows show only environments the user's team has access to.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CD Deployment — From HAR to Kubernetes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F"/>
                </a:solidFill>
              </a:rPr>
              <a:t>harness-cd-pipeline.yaml: the full CI → CD chain ending in a verified production deployment.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1338560" cy="640080"/>
          </a:xfrm>
          <a:prstGeom prst="rect">
            <a:avLst/>
          </a:prstGeom>
          <a:solidFill>
            <a:srgbClr val="0F1B3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109728" cy="6400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453896"/>
            <a:ext cx="914400" cy="274320"/>
          </a:xfrm>
          <a:prstGeom prst="rect">
            <a:avLst/>
          </a:prstGeom>
          <a:solidFill>
            <a:srgbClr val="00ADE4">
              <a:alpha val="35000"/>
            </a:srgbClr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53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T+0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344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CI completes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Image tag main-a3f92c1 pushed to HAR. Scorecard updated. OPA gate passed.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11338560" cy="640080"/>
          </a:xfrm>
          <a:prstGeom prst="rect">
            <a:avLst/>
          </a:prstGeom>
          <a:solidFill>
            <a:srgbClr val="0F1B3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48256"/>
            <a:ext cx="109728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2203704"/>
            <a:ext cx="914400" cy="274320"/>
          </a:xfrm>
          <a:prstGeom prst="rect">
            <a:avLst/>
          </a:prstGeom>
          <a:solidFill>
            <a:srgbClr val="00C48C">
              <a:alpha val="35000"/>
            </a:srgbClr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203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T+1m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093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CD pipeline triggered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600200" y="23774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harness-cd-pipeline.yaml starts. Input: artifact tag from CI output variable.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11338560" cy="640080"/>
          </a:xfrm>
          <a:prstGeom prst="rect">
            <a:avLst/>
          </a:prstGeom>
          <a:solidFill>
            <a:srgbClr val="0F1B3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798064"/>
            <a:ext cx="109728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2953512"/>
            <a:ext cx="914400" cy="274320"/>
          </a:xfrm>
          <a:prstGeom prst="rect">
            <a:avLst/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953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T+3m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2843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Deploy to Dev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00200" y="31272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Kubernetes rolling update to dev namespace. Smoke test HTTP /health → 200 OK.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547872"/>
            <a:ext cx="11338560" cy="640080"/>
          </a:xfrm>
          <a:prstGeom prst="rect">
            <a:avLst/>
          </a:prstGeom>
          <a:solidFill>
            <a:srgbClr val="0F1B3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547872"/>
            <a:ext cx="109728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3703320"/>
            <a:ext cx="914400" cy="274320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T+8m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0200" y="3593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Canary to Staging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600200" y="387705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10% canary release to staging. Metrics verified: error rate &lt; 0.5%, latency &lt; 200ms.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297680"/>
            <a:ext cx="11338560" cy="640080"/>
          </a:xfrm>
          <a:prstGeom prst="rect">
            <a:avLst/>
          </a:prstGeom>
          <a:solidFill>
            <a:srgbClr val="0F1B3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297680"/>
            <a:ext cx="109728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" y="4453128"/>
            <a:ext cx="914400" cy="274320"/>
          </a:xfrm>
          <a:prstGeom prst="rect">
            <a:avLst/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4453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T+10m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00200" y="4343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Approval gate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600200" y="462686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Manual approval required for production promotion. Approval request sent to tech lead.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5047488"/>
            <a:ext cx="11338560" cy="640080"/>
          </a:xfrm>
          <a:prstGeom prst="rect">
            <a:avLst/>
          </a:prstGeom>
          <a:solidFill>
            <a:srgbClr val="0F1B3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5047488"/>
            <a:ext cx="109728" cy="6400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" y="5202936"/>
            <a:ext cx="914400" cy="274320"/>
          </a:xfrm>
          <a:prstGeom prst="rect">
            <a:avLst/>
          </a:prstGeom>
          <a:solidFill>
            <a:srgbClr val="00C48C">
              <a:alpha val="35000"/>
            </a:srgbClr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5202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T+15m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00200" y="50932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Full prod rollout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600200" y="5376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100% traffic shifted. CD verifies Kubernetes rollout status and service readiness.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5797296"/>
            <a:ext cx="11338560" cy="640080"/>
          </a:xfrm>
          <a:prstGeom prst="rect">
            <a:avLst/>
          </a:prstGeom>
          <a:solidFill>
            <a:srgbClr val="0F1B3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5797296"/>
            <a:ext cx="109728" cy="6400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5952744"/>
            <a:ext cx="914400" cy="274320"/>
          </a:xfrm>
          <a:prstGeom prst="rect">
            <a:avLst/>
          </a:prstGeom>
          <a:solidFill>
            <a:srgbClr val="00ADE4">
              <a:alpha val="35000"/>
            </a:srgbClr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5952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T+16m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600200" y="58430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DORA metrics updated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600200" y="61264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Deployment frequency +1. Lead time recorded. Catalog entity shows latest deploy.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</a:rPr>
              <a:t>IDP Deep-dive — Extensibility &amp; Advanced Catalog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Beyond the basics: custom properties, tech radar, plugin ecosystem, and advanced catalog configuration.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557784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5577840" cy="42062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710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 Entity Properties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1FF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Add custom metadata fields to catalog entities (e.g., cost-center, data-classification)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1FF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Used in scorecard checks and in OPA policy evaluation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1FF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Searchable and filterable in the IDP catalog UI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07008"/>
            <a:ext cx="557784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207008"/>
            <a:ext cx="5577840" cy="420624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2710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 Radar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75564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Curate a platform-wide technology radar (adopt/trial/hold/assess)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23591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Teams see which frameworks are approved before starting new projects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9626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Reduces drift and keeps the platform coherent over 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04488"/>
            <a:ext cx="557784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04488"/>
            <a:ext cx="5577840" cy="42062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6849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Plugin Ecosystem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53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8C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Backstage plugins + native Harness integrations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0566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8C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Pre-built: PagerDuty, GitHub PR, Kubernetes pod view, SonarQube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6601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8C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Custom plugins: build your own Backstage plugin and deploy via IDP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904488"/>
            <a:ext cx="557784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904488"/>
            <a:ext cx="5577840" cy="4206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96849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Advanced Catalog Patterns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453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catalog-info.yaml in monorepo (multi-component single file)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50566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Auto-discovery via repo wildcard patterns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56601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Dependency graph: visualize system interdependencies across teams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28800" cy="38404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Materials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Everything you need to run this Dev Day in your own environment — or share it with your team.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6576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3657600" cy="41148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928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This Slide Deck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DE4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Full 26-slide presentation — editable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807208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DE4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Available as .pptx and PDF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282696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DE4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All diagrams built from real guest-flow project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36576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828800"/>
            <a:ext cx="3657600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8928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Lab Guide PDFs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61688" y="233172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Step-by-step PDF for each of the 5 labs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61688" y="2807208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Screenshots of expected UI state at each step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61688" y="3282696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Common errors and troubleshooting guide per lab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1828800"/>
            <a:ext cx="36576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828800"/>
            <a:ext cx="365760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8928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Facilitator Guide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47888" y="233172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Timing breakdown and facilitation notes per slide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47888" y="2807208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Which questions participants always ask (and answers)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47888" y="3282696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How to handle sandbox issues and fallback demos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36576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14800"/>
            <a:ext cx="3657600" cy="4114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1788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guest-flow Reference Repo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461772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Full repo: catalog/, pipelines/, scorecards/, workflows/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" y="5093208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All YAML files used in labs are real — not mocked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" y="5568696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GitHub template ready to fork for each participant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51960" y="4114800"/>
            <a:ext cx="36576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51960" y="4114800"/>
            <a:ext cx="365760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61688" y="41788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Sandbox Setup Checklist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61688" y="461772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Pre-requisites: Harness account, IDP enabled, Code module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61688" y="5093208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GitHub org + OAuth app config for workshop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61688" y="5568696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Pre-seeded sandbox state to skip manual setup steps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38160" y="4114800"/>
            <a:ext cx="365760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4114800"/>
            <a:ext cx="365760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7888" y="41788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Post-Event Resources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47888" y="461772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Follow-up email template with recording links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47888" y="5093208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Harness IDP docs and community Slack invite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247888" y="5568696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-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30-day trial offer for participants' orgs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7B61FF">
              <a:alpha val="1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914400"/>
          </a:xfrm>
          <a:prstGeom prst="rect">
            <a:avLst/>
          </a:prstGeom>
          <a:solidFill>
            <a:srgbClr val="0F1B3C"/>
          </a:solidFill>
          <a:ln w="1016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1247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IDP + CI/CD is a living system, not a setup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904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</a:rPr>
              <a:t>Pipelines feed the catalog. Scorecards gate deployments. The system self-maintains — as long as you keep the CI stages honest.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11338560" cy="914400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48840"/>
            <a:ext cx="109728" cy="91440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D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Self-service is the real value of IDP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5877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</a:rPr>
              <a:t>new-project.yaml + project_setup_v2: dev fills a form, gets a repo, project, CI pipeline, and catalog entry — in one click.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46120"/>
            <a:ext cx="11338560" cy="914400"/>
          </a:xfrm>
          <a:prstGeom prst="rect">
            <a:avLst/>
          </a:prstGeom>
          <a:solidFill>
            <a:srgbClr val="0F1B3C"/>
          </a:solidFill>
          <a:ln w="1016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46120"/>
            <a:ext cx="109728" cy="9144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3192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Scorecards make invisible quality visible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6850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</a:rPr>
              <a:t>service-readiness (91%) and security (95%) scorecards expose what's healthy and what's not — automatically, after every CI run.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343400"/>
            <a:ext cx="11338560" cy="914400"/>
          </a:xfrm>
          <a:prstGeom prst="rect">
            <a:avLst/>
          </a:prstGeom>
          <a:solidFill>
            <a:srgbClr val="0F1B3C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343400"/>
            <a:ext cx="10972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4165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is continuous, not a gate at the 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7823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</a:rPr>
              <a:t>Semgrep + Grype + Trivy run in CI. OPA blocks promotion. SBOM and provenance live in HAR. Every deploy has a chain of custody.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5440680"/>
            <a:ext cx="11338560" cy="914400"/>
          </a:xfrm>
          <a:prstGeom prst="rect">
            <a:avLst/>
          </a:prstGeom>
          <a:solidFill>
            <a:srgbClr val="0F1B3C"/>
          </a:solidFill>
          <a:ln w="1016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5440680"/>
            <a:ext cx="109728" cy="914400"/>
          </a:xfrm>
          <a:prstGeom prst="rect">
            <a:avLst/>
          </a:prstGeom>
          <a:solidFill>
            <a:srgbClr val="00ADE4"/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669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D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5513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Platform Engineering = internal product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8795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</a:rPr>
              <a:t>Your devs are your users. IDP is your storefront. guest-flow is your reference implementation. Iterate like a product team.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</a:rPr>
              <a:t>Resources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30352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Documentation &amp; Labs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developer.harness.io/docs/internal-developer-portal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developer.harness.io/docs/continuous-integration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developer.harness.io/docs/continuous-delivery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developer.harness.io/tutorials -&gt; IDP Getting Started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github.com/harness-community -&gt; examples &amp; templates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DE4"/>
                </a:solidFill>
              </a:rPr>
              <a:t>-&gt;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Harness University -&gt; IDP Certification path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576072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Next Steps (for your org)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1371600" cy="32004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Enable Harness IDP on your account. Register 5 pilot services in the catalog.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350008"/>
            <a:ext cx="1371600" cy="32004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50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Weeks 2-3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Create your first Scaffolder Template for the most common service type on your team.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008376"/>
            <a:ext cx="1371600" cy="32004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30083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Configure maturity scorecards and present them to tech leads.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666744"/>
            <a:ext cx="1371600" cy="32004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6667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36667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Full golden path in production: new service in &lt; 2h, from zero to first deploy.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4325112"/>
            <a:ext cx="1371600" cy="32004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325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3251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DORA metrics in IDP, feedback loop with teams, iterate on templates.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5303520"/>
            <a:ext cx="11430000" cy="1280160"/>
          </a:xfrm>
          <a:prstGeom prst="rect">
            <a:avLst/>
          </a:prstGeom>
          <a:solidFill>
            <a:srgbClr val="080D1E"/>
          </a:solidFill>
          <a:ln w="1905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Want to go deeper with your team?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58704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</a:rPr>
              <a:t>Let's schedule a tailored workshop or an IDP PoC in your environment.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0" y="5577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DE4"/>
                </a:solidFill>
              </a:rPr>
              <a:t>diego.pereira@harness.io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029200" cy="5029200"/>
          </a:xfrm>
          <a:prstGeom prst="ellipse">
            <a:avLst/>
          </a:prstGeom>
          <a:solidFill>
            <a:srgbClr val="7B61FF">
              <a:alpha val="1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0ADE4">
              <a:alpha val="13000"/>
            </a:srgbClr>
          </a:solidFill>
          <a:ln w="12700">
            <a:solidFill>
              <a:srgbClr val="00AD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114800"/>
            <a:ext cx="3657600" cy="3657600"/>
          </a:xfrm>
          <a:prstGeom prst="ellipse">
            <a:avLst/>
          </a:prstGeom>
          <a:solidFill>
            <a:srgbClr val="00C48C">
              <a:alpha val="10000"/>
            </a:srgbClr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188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DE4"/>
                </a:solidFill>
              </a:rPr>
              <a:t>Questions? Now is the time.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83280" y="4114800"/>
            <a:ext cx="5394960" cy="1554480"/>
          </a:xfrm>
          <a:prstGeom prst="rect">
            <a:avLst/>
          </a:prstGeom>
          <a:solidFill>
            <a:srgbClr val="0F1B3C"/>
          </a:solidFill>
          <a:ln w="12700">
            <a:solidFill>
              <a:srgbClr val="00A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425196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Diego Pereira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B4D0"/>
                </a:solidFill>
              </a:rPr>
              <a:t>Principal Customer Architect  •  Harness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ADE4"/>
                </a:solidFill>
              </a:rPr>
              <a:t>diego.pereira@harness.io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070"/>
                </a:solidFill>
              </a:rPr>
              <a:t>#HarnessDevDay  |  harness.io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Dev Day — IDP + CI/CD: The Living Developer Platform</dc:title>
  <dc:subject>PptxGenJS Presentation</dc:subject>
  <dc:creator>Diego Pereira, Principal Customer Architect</dc:creator>
  <cp:lastModifiedBy>Diego Pereira, Principal Customer Architect</cp:lastModifiedBy>
  <cp:revision>1</cp:revision>
  <dcterms:created xsi:type="dcterms:W3CDTF">2026-06-18T00:08:48Z</dcterms:created>
  <dcterms:modified xsi:type="dcterms:W3CDTF">2026-06-18T00:08:48Z</dcterms:modified>
</cp:coreProperties>
</file>